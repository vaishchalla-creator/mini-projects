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12192000"/>
  <p:embeddedFontLst>
    <p:embeddedFont>
      <p:font typeface="Play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juXo41qZ+QE7pZ5VC+pGV8tge5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Play-bold.fntdata"/><Relationship Id="rId12" Type="http://schemas.openxmlformats.org/officeDocument/2006/relationships/font" Target="fonts/Play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Content and schedule details are based on user-provided information in chat.</a:t>
            </a:r>
            <a:br>
              <a:rPr lang="en-US"/>
            </a:br>
            <a:r>
              <a:rPr lang="en-US"/>
              <a:t>- Illustration created with OpenAI image generation for this deck.</a:t>
            </a:r>
            <a:br>
              <a:rPr lang="en-US"/>
            </a:br>
            <a:r>
              <a:rPr lang="en-US"/>
              <a:t>[/Sources]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Content and schedule details are based on user-provided information in chat.</a:t>
            </a:r>
            <a:br>
              <a:rPr lang="en-US"/>
            </a:br>
            <a:r>
              <a:rPr lang="en-US"/>
              <a:t>- Illustration created with OpenAI image generation for this deck.</a:t>
            </a:r>
            <a:br>
              <a:rPr lang="en-US"/>
            </a:br>
            <a:r>
              <a:rPr lang="en-US"/>
              <a:t>[/Sources]</a:t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Content and schedule details are based on user-provided information in chat.</a:t>
            </a:r>
            <a:br>
              <a:rPr lang="en-US"/>
            </a:br>
            <a:r>
              <a:rPr lang="en-US"/>
              <a:t>[/Sources]</a:t>
            </a:r>
            <a:endParaRPr/>
          </a:p>
        </p:txBody>
      </p:sp>
      <p:sp>
        <p:nvSpPr>
          <p:cNvPr id="37" name="Google Shape;3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Dataset is based on user-provided schedule details in chat.</a:t>
            </a:r>
            <a:br>
              <a:rPr lang="en-US"/>
            </a:br>
            <a:r>
              <a:rPr lang="en-US"/>
              <a:t>[/Sources]</a:t>
            </a:r>
            <a:endParaRPr/>
          </a:p>
        </p:txBody>
      </p:sp>
      <p:sp>
        <p:nvSpPr>
          <p:cNvPr id="51" name="Google Shape;5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Code is created for this user request.</a:t>
            </a:r>
            <a:br>
              <a:rPr lang="en-US"/>
            </a:br>
            <a:r>
              <a:rPr lang="en-US"/>
              <a:t>[/Sources]</a:t>
            </a:r>
            <a:endParaRPr/>
          </a:p>
        </p:txBody>
      </p:sp>
      <p:sp>
        <p:nvSpPr>
          <p:cNvPr id="61" name="Google Shape;6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Output is produced by the included Python code using the included CSV dataset.</a:t>
            </a:r>
            <a:br>
              <a:rPr lang="en-US"/>
            </a:br>
            <a:r>
              <a:rPr lang="en-US"/>
              <a:t>[/Sources]</a:t>
            </a:r>
            <a:endParaRPr/>
          </a:p>
        </p:txBody>
      </p:sp>
      <p:sp>
        <p:nvSpPr>
          <p:cNvPr id="72" name="Google Shape;7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[Sources]</a:t>
            </a:r>
            <a:br>
              <a:rPr lang="en-US"/>
            </a:br>
            <a:r>
              <a:rPr lang="en-US"/>
              <a:t>- Closing script is derived from user-provided project details.</a:t>
            </a:r>
            <a:br>
              <a:rPr lang="en-US"/>
            </a:br>
            <a:r>
              <a:rPr lang="en-US"/>
              <a:t>- Illustration created with OpenAI image generation for this deck.</a:t>
            </a:r>
            <a:br>
              <a:rPr lang="en-US"/>
            </a:br>
            <a:r>
              <a:rPr lang="en-US"/>
              <a:t>[/Sources]</a:t>
            </a:r>
            <a:endParaRPr/>
          </a:p>
        </p:txBody>
      </p:sp>
      <p:sp>
        <p:nvSpPr>
          <p:cNvPr id="83" name="Google Shape;8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4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23B64"/>
          </a:solidFill>
          <a:ln cap="flat" cmpd="sng" w="12700">
            <a:solidFill>
              <a:srgbClr val="EAF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640080" y="1188720"/>
            <a:ext cx="5120640" cy="411480"/>
          </a:xfrm>
          <a:prstGeom prst="roundRect">
            <a:avLst>
              <a:gd fmla="val 17778" name="adj"/>
            </a:avLst>
          </a:prstGeom>
          <a:solidFill>
            <a:srgbClr val="FFD76A"/>
          </a:solidFill>
          <a:ln cap="flat" cmpd="sng" w="12700">
            <a:solidFill>
              <a:srgbClr val="EAF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914400" y="1271016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B64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23B64"/>
                </a:solidFill>
                <a:latin typeface="Arial"/>
                <a:ea typeface="Arial"/>
                <a:cs typeface="Arial"/>
                <a:sym typeface="Arial"/>
              </a:rPr>
              <a:t>Hackathon Project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31520" y="1783080"/>
            <a:ext cx="53035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4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23B64"/>
                </a:solidFill>
                <a:latin typeface="Play"/>
                <a:ea typeface="Play"/>
                <a:cs typeface="Play"/>
                <a:sym typeface="Play"/>
              </a:rPr>
              <a:t>Smart Student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4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23B64"/>
                </a:solidFill>
                <a:latin typeface="Play"/>
                <a:ea typeface="Play"/>
                <a:cs typeface="Play"/>
                <a:sym typeface="Play"/>
              </a:rPr>
              <a:t>Activity Organizer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749808" y="3154680"/>
            <a:ext cx="47548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9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1C2B39"/>
                </a:solidFill>
                <a:latin typeface="Arial"/>
                <a:ea typeface="Arial"/>
                <a:cs typeface="Arial"/>
                <a:sym typeface="Arial"/>
              </a:rPr>
              <a:t>A Python project that helps </a:t>
            </a:r>
            <a:r>
              <a:rPr lang="en-US" sz="1700">
                <a:solidFill>
                  <a:srgbClr val="1C2B39"/>
                </a:solidFill>
              </a:rPr>
              <a:t>me</a:t>
            </a:r>
            <a:r>
              <a:rPr b="0" i="0" lang="en-US" sz="1700" u="none" cap="none" strike="noStrike">
                <a:solidFill>
                  <a:srgbClr val="1C2B39"/>
                </a:solidFill>
                <a:latin typeface="Arial"/>
                <a:ea typeface="Arial"/>
                <a:cs typeface="Arial"/>
                <a:sym typeface="Arial"/>
              </a:rPr>
              <a:t> balance school, activities, homework, and weekends.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48640" y="6464808"/>
            <a:ext cx="4572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C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A8C"/>
                </a:solidFill>
                <a:latin typeface="Arial"/>
                <a:ea typeface="Arial"/>
                <a:cs typeface="Arial"/>
                <a:sym typeface="Arial"/>
              </a:rPr>
              <a:t>Smart Student Activity Organizer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23B64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548640" y="411480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4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123B64"/>
                </a:solidFill>
                <a:latin typeface="Play"/>
                <a:ea typeface="Play"/>
                <a:cs typeface="Play"/>
                <a:sym typeface="Play"/>
              </a:rPr>
              <a:t>Why this project works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566928" y="86868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The story is personal, practical, and easy to explain.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658375" y="1325874"/>
            <a:ext cx="5178900" cy="4971900"/>
          </a:xfrm>
          <a:prstGeom prst="roundRect">
            <a:avLst>
              <a:gd fmla="val 1250" name="adj"/>
            </a:avLst>
          </a:prstGeom>
          <a:solidFill>
            <a:srgbClr val="FCFEFF"/>
          </a:solidFill>
          <a:ln cap="flat" cmpd="sng" w="12700">
            <a:solidFill>
              <a:srgbClr val="D6E2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914400" y="1600200"/>
            <a:ext cx="452628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4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23B64"/>
                </a:solidFill>
                <a:latin typeface="Arial"/>
                <a:ea typeface="Arial"/>
                <a:cs typeface="Arial"/>
                <a:sym typeface="Arial"/>
              </a:rPr>
              <a:t>Real life problem</a:t>
            </a:r>
            <a:br>
              <a:rPr b="1" i="0" lang="en-US" sz="1700" u="none" cap="none" strike="noStrike">
                <a:solidFill>
                  <a:srgbClr val="123B64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1C2B39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C2B39"/>
                </a:solidFill>
                <a:latin typeface="Arial"/>
                <a:ea typeface="Arial"/>
                <a:cs typeface="Arial"/>
                <a:sym typeface="Arial"/>
              </a:rPr>
              <a:t>Taekwondo, Scouts, Art, English, Speech &amp; Debate, Manabadi, homework, and student ambassador work all compete for time.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1C2B39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C2B39"/>
                </a:solidFill>
                <a:latin typeface="Arial"/>
                <a:ea typeface="Arial"/>
                <a:cs typeface="Arial"/>
                <a:sym typeface="Arial"/>
              </a:rPr>
              <a:t>Some weekends add tournaments, camping, service projects, belt testing, or merit badge meetings.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1C2B39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1C2B39"/>
                </a:solidFill>
                <a:latin typeface="Arial"/>
                <a:ea typeface="Arial"/>
                <a:cs typeface="Arial"/>
                <a:sym typeface="Arial"/>
              </a:rPr>
              <a:t>A schedule helper turns that busy week into something visible and manageable.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914400" y="4791925"/>
            <a:ext cx="4526400" cy="5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50" lIns="750" spcFirstLastPara="1" rIns="750" wrap="square" tIns="7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4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23B64"/>
                </a:solidFill>
                <a:latin typeface="Arial"/>
                <a:ea typeface="Arial"/>
                <a:cs typeface="Arial"/>
                <a:sym typeface="Arial"/>
              </a:rPr>
              <a:t>Good hackathon fit</a:t>
            </a:r>
            <a:br>
              <a:rPr b="1" i="0" lang="en-US" sz="1600" u="none" cap="none" strike="noStrike">
                <a:solidFill>
                  <a:srgbClr val="123B64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1C2B39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C2B39"/>
                </a:solidFill>
                <a:latin typeface="Arial"/>
                <a:ea typeface="Arial"/>
                <a:cs typeface="Arial"/>
                <a:sym typeface="Arial"/>
              </a:rPr>
              <a:t>Uses a real CSV dataset, so the project feels grounded.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1C2B39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C2B39"/>
                </a:solidFill>
                <a:latin typeface="Arial"/>
                <a:ea typeface="Arial"/>
                <a:cs typeface="Arial"/>
                <a:sym typeface="Arial"/>
              </a:rPr>
              <a:t>The demo is simple: edit one row, rerun, and show the schedule change.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1C2B39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1C2B39"/>
                </a:solidFill>
                <a:latin typeface="Arial"/>
                <a:ea typeface="Arial"/>
                <a:cs typeface="Arial"/>
                <a:sym typeface="Arial"/>
              </a:rPr>
              <a:t>The code is beginner friendly, but the idea still sounds useful and thoughtful.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48640" y="6464808"/>
            <a:ext cx="4572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C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A8C"/>
                </a:solidFill>
                <a:latin typeface="Arial"/>
                <a:ea typeface="Arial"/>
                <a:cs typeface="Arial"/>
                <a:sym typeface="Arial"/>
              </a:rPr>
              <a:t>StangHacks demo package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4FF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23B64"/>
          </a:solidFill>
          <a:ln cap="flat" cmpd="sng" w="12700">
            <a:solidFill>
              <a:srgbClr val="EAF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548640" y="411480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4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123B64"/>
                </a:solidFill>
                <a:latin typeface="Play"/>
                <a:ea typeface="Play"/>
                <a:cs typeface="Play"/>
                <a:sym typeface="Play"/>
              </a:rPr>
              <a:t>Version 1: what the Python project does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731520" y="1554480"/>
            <a:ext cx="1920240" cy="1078992"/>
          </a:xfrm>
          <a:prstGeom prst="roundRect">
            <a:avLst>
              <a:gd fmla="val 5085" name="adj"/>
            </a:avLst>
          </a:prstGeom>
          <a:solidFill>
            <a:srgbClr val="FFFFFF"/>
          </a:solidFill>
          <a:ln cap="flat" cmpd="sng" w="9525">
            <a:solidFill>
              <a:srgbClr val="D6E2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B64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23B64"/>
                </a:solidFill>
                <a:latin typeface="Arial"/>
                <a:ea typeface="Arial"/>
                <a:cs typeface="Arial"/>
                <a:sym typeface="Arial"/>
              </a:rPr>
              <a:t>1. Read a CSV file of weekly activities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3063240" y="1554480"/>
            <a:ext cx="1920240" cy="1078992"/>
          </a:xfrm>
          <a:prstGeom prst="roundRect">
            <a:avLst>
              <a:gd fmla="val 5085" name="adj"/>
            </a:avLst>
          </a:prstGeom>
          <a:solidFill>
            <a:srgbClr val="FFFFFF"/>
          </a:solidFill>
          <a:ln cap="flat" cmpd="sng" w="9525">
            <a:solidFill>
              <a:srgbClr val="D6E2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B64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23B64"/>
                </a:solidFill>
                <a:latin typeface="Arial"/>
                <a:ea typeface="Arial"/>
                <a:cs typeface="Arial"/>
                <a:sym typeface="Arial"/>
              </a:rPr>
              <a:t>2. Calculate total time scheduled for each day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5394960" y="1554480"/>
            <a:ext cx="1920240" cy="1078992"/>
          </a:xfrm>
          <a:prstGeom prst="roundRect">
            <a:avLst>
              <a:gd fmla="val 5085" name="adj"/>
            </a:avLst>
          </a:prstGeom>
          <a:solidFill>
            <a:srgbClr val="FFFFFF"/>
          </a:solidFill>
          <a:ln cap="flat" cmpd="sng" w="9525">
            <a:solidFill>
              <a:srgbClr val="D6E2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B64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23B64"/>
                </a:solidFill>
                <a:latin typeface="Arial"/>
                <a:ea typeface="Arial"/>
                <a:cs typeface="Arial"/>
                <a:sym typeface="Arial"/>
              </a:rPr>
              <a:t>3. Find busiest days and high-priority items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7726680" y="1554480"/>
            <a:ext cx="1920240" cy="1078992"/>
          </a:xfrm>
          <a:prstGeom prst="roundRect">
            <a:avLst>
              <a:gd fmla="val 5085" name="adj"/>
            </a:avLst>
          </a:prstGeom>
          <a:solidFill>
            <a:srgbClr val="FFFFFF"/>
          </a:solidFill>
          <a:ln cap="flat" cmpd="sng" w="9525">
            <a:solidFill>
              <a:srgbClr val="D6E2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B64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23B64"/>
                </a:solidFill>
                <a:latin typeface="Arial"/>
                <a:ea typeface="Arial"/>
                <a:cs typeface="Arial"/>
                <a:sym typeface="Arial"/>
              </a:rPr>
              <a:t>4. Print schedule analysis and recommendations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749808" y="3337560"/>
            <a:ext cx="4343400" cy="2240280"/>
          </a:xfrm>
          <a:prstGeom prst="roundRect">
            <a:avLst>
              <a:gd fmla="val 2041" name="adj"/>
            </a:avLst>
          </a:prstGeom>
          <a:solidFill>
            <a:srgbClr val="FFFFFF"/>
          </a:solidFill>
          <a:ln cap="flat" cmpd="sng" w="9525">
            <a:solidFill>
              <a:srgbClr val="D6E2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C2B39"/>
                </a:solidFill>
                <a:latin typeface="Arial"/>
                <a:ea typeface="Arial"/>
                <a:cs typeface="Arial"/>
                <a:sym typeface="Arial"/>
              </a:rPr>
              <a:t>Core skills used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C2B39"/>
                </a:solidFill>
                <a:latin typeface="Arial"/>
                <a:ea typeface="Arial"/>
                <a:cs typeface="Arial"/>
                <a:sym typeface="Arial"/>
              </a:rPr>
              <a:t>• variables and loops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C2B39"/>
                </a:solidFill>
                <a:latin typeface="Arial"/>
                <a:ea typeface="Arial"/>
                <a:cs typeface="Arial"/>
                <a:sym typeface="Arial"/>
              </a:rPr>
              <a:t>• if / else decisions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C2B39"/>
                </a:solidFill>
                <a:latin typeface="Arial"/>
                <a:ea typeface="Arial"/>
                <a:cs typeface="Arial"/>
                <a:sym typeface="Arial"/>
              </a:rPr>
              <a:t>• lists and dictionaries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C2B39"/>
                </a:solidFill>
                <a:latin typeface="Arial"/>
                <a:ea typeface="Arial"/>
                <a:cs typeface="Arial"/>
                <a:sym typeface="Arial"/>
              </a:rPr>
              <a:t>• functions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C2B39"/>
                </a:solidFill>
                <a:latin typeface="Arial"/>
                <a:ea typeface="Arial"/>
                <a:cs typeface="Arial"/>
                <a:sym typeface="Arial"/>
              </a:rPr>
              <a:t>• reading a CSV file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C2B39"/>
                </a:solidFill>
                <a:latin typeface="Arial"/>
                <a:ea typeface="Arial"/>
                <a:cs typeface="Arial"/>
                <a:sym typeface="Arial"/>
              </a:rPr>
              <a:t>• simple time calculations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6400800" y="3337560"/>
            <a:ext cx="4983480" cy="2240280"/>
          </a:xfrm>
          <a:prstGeom prst="roundRect">
            <a:avLst>
              <a:gd fmla="val 2041" name="adj"/>
            </a:avLst>
          </a:prstGeom>
          <a:solidFill>
            <a:srgbClr val="FFFFFF"/>
          </a:solidFill>
          <a:ln cap="flat" cmpd="sng" w="9525">
            <a:solidFill>
              <a:srgbClr val="D6E2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" lIns="1500" spcFirstLastPara="1" rIns="1500" wrap="square" tIns="1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C2B39"/>
                </a:solidFill>
                <a:latin typeface="Arial"/>
                <a:ea typeface="Arial"/>
                <a:cs typeface="Arial"/>
                <a:sym typeface="Arial"/>
              </a:rPr>
              <a:t>Demo script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C2B39"/>
                </a:solidFill>
                <a:latin typeface="Arial"/>
                <a:ea typeface="Arial"/>
                <a:cs typeface="Arial"/>
                <a:sym typeface="Arial"/>
              </a:rPr>
              <a:t>• Show the CSV file first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C2B39"/>
                </a:solidFill>
                <a:latin typeface="Arial"/>
                <a:ea typeface="Arial"/>
                <a:cs typeface="Arial"/>
                <a:sym typeface="Arial"/>
              </a:rPr>
              <a:t>• Run program in PyCharm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C2B39"/>
                </a:solidFill>
                <a:latin typeface="Arial"/>
                <a:ea typeface="Arial"/>
                <a:cs typeface="Arial"/>
                <a:sym typeface="Arial"/>
              </a:rPr>
              <a:t>• Point out busiest day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C2B39"/>
                </a:solidFill>
                <a:latin typeface="Arial"/>
                <a:ea typeface="Arial"/>
                <a:cs typeface="Arial"/>
                <a:sym typeface="Arial"/>
              </a:rPr>
              <a:t>• Add a tournament or service event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C2B39"/>
                </a:solidFill>
                <a:latin typeface="Arial"/>
                <a:ea typeface="Arial"/>
                <a:cs typeface="Arial"/>
                <a:sym typeface="Arial"/>
              </a:rPr>
              <a:t>• Run again to show an updated schedule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548640" y="6464808"/>
            <a:ext cx="4572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C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A8C"/>
                </a:solidFill>
                <a:latin typeface="Arial"/>
                <a:ea typeface="Arial"/>
                <a:cs typeface="Arial"/>
                <a:sym typeface="Arial"/>
              </a:rPr>
              <a:t>StangHacks demo package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23B64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548640" y="411480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4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123B64"/>
                </a:solidFill>
                <a:latin typeface="Play"/>
                <a:ea typeface="Play"/>
                <a:cs typeface="Play"/>
                <a:sym typeface="Play"/>
              </a:rPr>
              <a:t>Dataset: a real weekly schedule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566928" y="86868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Each row is one activity with a day, time range, priority, and note.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480073" y="1381950"/>
            <a:ext cx="4709100" cy="1783200"/>
          </a:xfrm>
          <a:prstGeom prst="roundRect">
            <a:avLst>
              <a:gd fmla="val 2564" name="adj"/>
            </a:avLst>
          </a:prstGeom>
          <a:solidFill>
            <a:srgbClr val="D9F0E3"/>
          </a:solidFill>
          <a:ln cap="flat" cmpd="sng" w="9525">
            <a:solidFill>
              <a:srgbClr val="D9F0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C2B39"/>
                </a:solidFill>
                <a:latin typeface="Arial"/>
                <a:ea typeface="Arial"/>
                <a:cs typeface="Arial"/>
                <a:sym typeface="Arial"/>
              </a:rPr>
              <a:t>• It is authentic: built from </a:t>
            </a:r>
            <a:r>
              <a:rPr lang="en-US" sz="1600">
                <a:solidFill>
                  <a:srgbClr val="1C2B39"/>
                </a:solidFill>
              </a:rPr>
              <a:t>my</a:t>
            </a:r>
            <a:r>
              <a:rPr b="0" i="0" lang="en-US" sz="1600" u="none" cap="none" strike="noStrike">
                <a:solidFill>
                  <a:srgbClr val="1C2B39"/>
                </a:solidFill>
                <a:latin typeface="Arial"/>
                <a:ea typeface="Arial"/>
                <a:cs typeface="Arial"/>
                <a:sym typeface="Arial"/>
              </a:rPr>
              <a:t> actual weekly commitments.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C2B39"/>
                </a:solidFill>
                <a:latin typeface="Arial"/>
                <a:ea typeface="Arial"/>
                <a:cs typeface="Arial"/>
                <a:sym typeface="Arial"/>
              </a:rPr>
              <a:t>• It is editable: one extra row can simulate a tournament or camping weekend.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C2B39"/>
                </a:solidFill>
                <a:latin typeface="Arial"/>
                <a:ea typeface="Arial"/>
                <a:cs typeface="Arial"/>
                <a:sym typeface="Arial"/>
              </a:rPr>
              <a:t>• It is reusable: the same project could work for any busy student.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548640" y="6464808"/>
            <a:ext cx="4572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C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A8C"/>
                </a:solidFill>
                <a:latin typeface="Arial"/>
                <a:ea typeface="Arial"/>
                <a:cs typeface="Arial"/>
                <a:sym typeface="Arial"/>
              </a:rPr>
              <a:t>StangHacks demo package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4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23B64"/>
          </a:solidFill>
          <a:ln cap="flat" cmpd="sng" w="12700">
            <a:solidFill>
              <a:srgbClr val="EAF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548640" y="411480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4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123B64"/>
                </a:solidFill>
                <a:latin typeface="Play"/>
                <a:ea typeface="Play"/>
                <a:cs typeface="Play"/>
                <a:sym typeface="Play"/>
              </a:rPr>
              <a:t>Code structure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658368" y="1325880"/>
            <a:ext cx="6492240" cy="4480560"/>
          </a:xfrm>
          <a:prstGeom prst="roundRect">
            <a:avLst>
              <a:gd fmla="val 1020" name="adj"/>
            </a:avLst>
          </a:prstGeom>
          <a:solidFill>
            <a:srgbClr val="111827"/>
          </a:solidFill>
          <a:ln cap="flat" cmpd="sng" w="12700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914400" y="1627632"/>
            <a:ext cx="603504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600"/>
              <a:buFont typeface="Courier New"/>
              <a:buNone/>
            </a:pPr>
            <a:r>
              <a:rPr b="0" i="0" lang="en-US" sz="16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def time_to_minutes(time_text):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600"/>
              <a:buFont typeface="Courier New"/>
              <a:buNone/>
            </a:pPr>
            <a:r>
              <a:rPr b="0" i="0" lang="en-US" sz="16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  hour, minute = time_text.split(":")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600"/>
              <a:buFont typeface="Courier New"/>
              <a:buNone/>
            </a:pPr>
            <a:r>
              <a:rPr b="0" i="0" lang="en-US" sz="16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int(hour) * 60 + int(minute)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600"/>
              <a:buFont typeface="Courier New"/>
              <a:buNone/>
            </a:pPr>
            <a:r>
              <a:rPr b="0" i="0" lang="en-US" sz="16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def daily_totals(activities):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600"/>
              <a:buFont typeface="Courier New"/>
              <a:buNone/>
            </a:pPr>
            <a:r>
              <a:rPr b="0" i="0" lang="en-US" sz="16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  totals = {day: 0 for day in DAYS}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600"/>
              <a:buFont typeface="Courier New"/>
              <a:buNone/>
            </a:pPr>
            <a:r>
              <a:rPr b="0" i="0" lang="en-US" sz="16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  for activity in activities: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600"/>
              <a:buFont typeface="Courier New"/>
              <a:buNone/>
            </a:pPr>
            <a:r>
              <a:rPr b="0" i="0" lang="en-US" sz="16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      totals[activity["day"]] += activity["duration"]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600"/>
              <a:buFont typeface="Courier New"/>
              <a:buNone/>
            </a:pPr>
            <a:r>
              <a:rPr b="0" i="0" lang="en-US" sz="16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totals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600"/>
              <a:buFont typeface="Courier New"/>
              <a:buNone/>
            </a:pPr>
            <a:r>
              <a:rPr b="0" i="0" lang="en-US" sz="16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def busiest_day(totals):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600"/>
              <a:buFont typeface="Courier New"/>
              <a:buNone/>
            </a:pPr>
            <a:r>
              <a:rPr b="0" i="0" lang="en-US" sz="160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max(totals, key=totals.get)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7424928" y="1371600"/>
            <a:ext cx="4069080" cy="1508760"/>
          </a:xfrm>
          <a:prstGeom prst="roundRect">
            <a:avLst>
              <a:gd fmla="val 3030" name="adj"/>
            </a:avLst>
          </a:prstGeom>
          <a:solidFill>
            <a:srgbClr val="FFFFFF"/>
          </a:solidFill>
          <a:ln cap="flat" cmpd="sng" w="9525">
            <a:solidFill>
              <a:srgbClr val="D6E2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C2B39"/>
                </a:solidFill>
                <a:latin typeface="Arial"/>
                <a:ea typeface="Arial"/>
                <a:cs typeface="Arial"/>
                <a:sym typeface="Arial"/>
              </a:rPr>
              <a:t>• Convert times into minutes so math is easy.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C2B39"/>
                </a:solidFill>
                <a:latin typeface="Arial"/>
                <a:ea typeface="Arial"/>
                <a:cs typeface="Arial"/>
                <a:sym typeface="Arial"/>
              </a:rPr>
              <a:t>• Add up durations for each day of the week.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C2B39"/>
                </a:solidFill>
                <a:latin typeface="Arial"/>
                <a:ea typeface="Arial"/>
                <a:cs typeface="Arial"/>
                <a:sym typeface="Arial"/>
              </a:rPr>
              <a:t>• Use the largest total to find the busiest day.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548640" y="6464808"/>
            <a:ext cx="4572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C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A8C"/>
                </a:solidFill>
                <a:latin typeface="Arial"/>
                <a:ea typeface="Arial"/>
                <a:cs typeface="Arial"/>
                <a:sym typeface="Arial"/>
              </a:rPr>
              <a:t>StangHacks demo package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23B64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6"/>
          <p:cNvSpPr/>
          <p:nvPr/>
        </p:nvSpPr>
        <p:spPr>
          <a:xfrm>
            <a:off x="548640" y="411480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4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123B64"/>
                </a:solidFill>
                <a:latin typeface="Play"/>
                <a:ea typeface="Play"/>
                <a:cs typeface="Play"/>
                <a:sym typeface="Play"/>
              </a:rPr>
              <a:t>What the demo prints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566928" y="868680"/>
            <a:ext cx="6858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The output immediately tells a story: busy days, lighter days, and what to do next.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658368" y="1280160"/>
            <a:ext cx="6583680" cy="5074920"/>
          </a:xfrm>
          <a:prstGeom prst="roundRect">
            <a:avLst>
              <a:gd fmla="val 901" name="adj"/>
            </a:avLst>
          </a:prstGeom>
          <a:solidFill>
            <a:srgbClr val="0F172A"/>
          </a:solidFill>
          <a:ln cap="flat" cmpd="sng" w="9525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70"/>
              <a:buFont typeface="Courier New"/>
              <a:buNone/>
            </a:pPr>
            <a:r>
              <a:rPr b="0" i="0" lang="en-US" sz="117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=== Smart Student Activity Organizer ===</a:t>
            </a:r>
            <a:endParaRPr b="0" i="0" sz="11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Arial"/>
              <a:buNone/>
            </a:pPr>
            <a:r>
              <a:t/>
            </a:r>
            <a:endParaRPr b="0" i="0" sz="11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70"/>
              <a:buFont typeface="Courier New"/>
              <a:buNone/>
            </a:pPr>
            <a:r>
              <a:rPr b="0" i="0" lang="en-US" sz="117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Total scheduled time by day:</a:t>
            </a:r>
            <a:endParaRPr b="0" i="0" sz="11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70"/>
              <a:buFont typeface="Courier New"/>
              <a:buNone/>
            </a:pPr>
            <a:r>
              <a:rPr b="0" i="0" lang="en-US" sz="117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- Monday: 3 hour(s) 0 minute(s)</a:t>
            </a:r>
            <a:endParaRPr b="0" i="0" sz="11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70"/>
              <a:buFont typeface="Courier New"/>
              <a:buNone/>
            </a:pPr>
            <a:r>
              <a:rPr b="0" i="0" lang="en-US" sz="117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- Tuesday: 2 hour(s) 30 minute(s)</a:t>
            </a:r>
            <a:endParaRPr b="0" i="0" sz="11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70"/>
              <a:buFont typeface="Courier New"/>
              <a:buNone/>
            </a:pPr>
            <a:r>
              <a:rPr b="0" i="0" lang="en-US" sz="117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- Wednesday: 2 hour(s) 30 minute(s)</a:t>
            </a:r>
            <a:endParaRPr b="0" i="0" sz="11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70"/>
              <a:buFont typeface="Courier New"/>
              <a:buNone/>
            </a:pPr>
            <a:r>
              <a:rPr b="0" i="0" lang="en-US" sz="117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- Thursday: 3 hour(s) 0 minute(s)</a:t>
            </a:r>
            <a:endParaRPr b="0" i="0" sz="11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70"/>
              <a:buFont typeface="Courier New"/>
              <a:buNone/>
            </a:pPr>
            <a:r>
              <a:rPr b="0" i="0" lang="en-US" sz="117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- Friday: 3 hour(s) 30 minute(s)</a:t>
            </a:r>
            <a:endParaRPr b="0" i="0" sz="11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70"/>
              <a:buFont typeface="Courier New"/>
              <a:buNone/>
            </a:pPr>
            <a:r>
              <a:rPr b="0" i="0" lang="en-US" sz="117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- Saturday: 3 hour(s) 0 minute(s)</a:t>
            </a:r>
            <a:endParaRPr b="0" i="0" sz="11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70"/>
              <a:buFont typeface="Courier New"/>
              <a:buNone/>
            </a:pPr>
            <a:r>
              <a:rPr b="0" i="0" lang="en-US" sz="117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- Sunday: 4 hour(s) 0 minute(s)</a:t>
            </a:r>
            <a:endParaRPr b="0" i="0" sz="11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Arial"/>
              <a:buNone/>
            </a:pPr>
            <a:r>
              <a:t/>
            </a:r>
            <a:endParaRPr b="0" i="0" sz="11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70"/>
              <a:buFont typeface="Courier New"/>
              <a:buNone/>
            </a:pPr>
            <a:r>
              <a:rPr b="0" i="0" lang="en-US" sz="117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Busiest day: Sunday with 4 hour(s) 0 minute(s)</a:t>
            </a:r>
            <a:endParaRPr b="0" i="0" sz="11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Arial"/>
              <a:buNone/>
            </a:pPr>
            <a:r>
              <a:t/>
            </a:r>
            <a:endParaRPr b="0" i="0" sz="11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70"/>
              <a:buFont typeface="Courier New"/>
              <a:buNone/>
            </a:pPr>
            <a:r>
              <a:rPr b="0" i="0" lang="en-US" sz="117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Schedule analysis:</a:t>
            </a:r>
            <a:endParaRPr b="0" i="0" sz="11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70"/>
              <a:buFont typeface="Courier New"/>
              <a:buNone/>
            </a:pPr>
            <a:r>
              <a:rPr b="0" i="0" lang="en-US" sz="117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- Monday: Busy day</a:t>
            </a:r>
            <a:endParaRPr b="0" i="0" sz="11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70"/>
              <a:buFont typeface="Courier New"/>
              <a:buNone/>
            </a:pPr>
            <a:r>
              <a:rPr b="0" i="0" lang="en-US" sz="117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- Tuesday: Moderately busy</a:t>
            </a:r>
            <a:endParaRPr b="0" i="0" sz="11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70"/>
              <a:buFont typeface="Courier New"/>
              <a:buNone/>
            </a:pPr>
            <a:r>
              <a:rPr b="0" i="0" lang="en-US" sz="117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- Wednesday: Moderately busy</a:t>
            </a:r>
            <a:endParaRPr b="0" i="0" sz="11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70"/>
              <a:buFont typeface="Courier New"/>
              <a:buNone/>
            </a:pPr>
            <a:r>
              <a:rPr b="0" i="0" lang="en-US" sz="117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- Thursday: Busy day</a:t>
            </a:r>
            <a:endParaRPr b="0" i="0" sz="11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70"/>
              <a:buFont typeface="Courier New"/>
              <a:buNone/>
            </a:pPr>
            <a:r>
              <a:rPr b="0" i="0" lang="en-US" sz="117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- Friday: Busy day</a:t>
            </a:r>
            <a:endParaRPr b="0" i="0" sz="11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70"/>
              <a:buFont typeface="Courier New"/>
              <a:buNone/>
            </a:pPr>
            <a:r>
              <a:rPr b="0" i="0" lang="en-US" sz="117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- Saturday: Busy day</a:t>
            </a:r>
            <a:endParaRPr b="0" i="0" sz="11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70"/>
              <a:buFont typeface="Courier New"/>
              <a:buNone/>
            </a:pPr>
            <a:r>
              <a:rPr b="0" i="0" lang="en-US" sz="117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- Sunday: Busy day</a:t>
            </a:r>
            <a:endParaRPr b="0" i="0" sz="11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Arial"/>
              <a:buNone/>
            </a:pPr>
            <a:r>
              <a:t/>
            </a:r>
            <a:endParaRPr b="0" i="0" sz="11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70"/>
              <a:buFont typeface="Courier New"/>
              <a:buNone/>
            </a:pPr>
            <a:r>
              <a:rPr b="0" i="0" lang="en-US" sz="1170" u="none" cap="none" strike="noStrik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Recommendation: Friday is packed.</a:t>
            </a:r>
            <a:endParaRPr b="0" i="0" sz="11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7470648" y="1417320"/>
            <a:ext cx="3931920" cy="1691640"/>
          </a:xfrm>
          <a:prstGeom prst="roundRect">
            <a:avLst>
              <a:gd fmla="val 2703" name="adj"/>
            </a:avLst>
          </a:prstGeom>
          <a:solidFill>
            <a:srgbClr val="EFF6FF"/>
          </a:solidFill>
          <a:ln cap="flat" cmpd="sng" w="9525">
            <a:solidFill>
              <a:srgbClr val="D8E7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75" lIns="1775" spcFirstLastPara="1" rIns="1775" wrap="square" tIns="17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9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1C2B39"/>
                </a:solidFill>
                <a:latin typeface="Arial"/>
                <a:ea typeface="Arial"/>
                <a:cs typeface="Arial"/>
                <a:sym typeface="Arial"/>
              </a:rPr>
              <a:t>• Sunday becomes the busiest day in the current data.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9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1C2B39"/>
                </a:solidFill>
                <a:latin typeface="Arial"/>
                <a:ea typeface="Arial"/>
                <a:cs typeface="Arial"/>
                <a:sym typeface="Arial"/>
              </a:rPr>
              <a:t>• Friday is flagged as packed, so the app recommends finishing work early.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B39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1C2B39"/>
                </a:solidFill>
                <a:latin typeface="Arial"/>
                <a:ea typeface="Arial"/>
                <a:cs typeface="Arial"/>
                <a:sym typeface="Arial"/>
              </a:rPr>
              <a:t>• This makes the project feel useful instead of just decorative.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548640" y="6464808"/>
            <a:ext cx="4572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C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A8C"/>
                </a:solidFill>
                <a:latin typeface="Arial"/>
                <a:ea typeface="Arial"/>
                <a:cs typeface="Arial"/>
                <a:sym typeface="Arial"/>
              </a:rPr>
              <a:t>StangHacks demo package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23B64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8"/>
          <p:cNvSpPr/>
          <p:nvPr/>
        </p:nvSpPr>
        <p:spPr>
          <a:xfrm>
            <a:off x="548640" y="411480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4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123B64"/>
                </a:solidFill>
                <a:latin typeface="Play"/>
                <a:ea typeface="Play"/>
                <a:cs typeface="Play"/>
                <a:sym typeface="Play"/>
              </a:rPr>
              <a:t>What to say in the final minute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8"/>
          <p:cNvSpPr/>
          <p:nvPr/>
        </p:nvSpPr>
        <p:spPr>
          <a:xfrm>
            <a:off x="868680" y="1325880"/>
            <a:ext cx="6583680" cy="4480560"/>
          </a:xfrm>
          <a:prstGeom prst="roundRect">
            <a:avLst>
              <a:gd fmla="val 1224" name="adj"/>
            </a:avLst>
          </a:prstGeom>
          <a:solidFill>
            <a:srgbClr val="F8FBFF"/>
          </a:solidFill>
          <a:ln cap="flat" cmpd="sng" w="12700">
            <a:solidFill>
              <a:srgbClr val="D6E2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635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8"/>
          <p:cNvSpPr/>
          <p:nvPr/>
        </p:nvSpPr>
        <p:spPr>
          <a:xfrm>
            <a:off x="1234440" y="1874520"/>
            <a:ext cx="58064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B64"/>
              </a:buClr>
              <a:buSzPts val="2300"/>
              <a:buFont typeface="Arial"/>
              <a:buNone/>
            </a:pPr>
            <a:r>
              <a:rPr b="0" i="1" lang="en-US" sz="2300" u="none" cap="none" strike="noStrike">
                <a:solidFill>
                  <a:srgbClr val="123B64"/>
                </a:solidFill>
                <a:latin typeface="Arial"/>
                <a:ea typeface="Arial"/>
                <a:cs typeface="Arial"/>
                <a:sym typeface="Arial"/>
              </a:rPr>
              <a:t>“I built a Smart Student Activity Organizer in Python. It uses a CSV file of my weekly schedule and calculates how busy each day is. It helps me understand my busiest day, plan homework around extracurriculars, and decide what to prioritize. I chose this project because it solves a real problem in my own life.”</a:t>
            </a:r>
            <a:endParaRPr b="0" i="0" sz="2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8"/>
          <p:cNvSpPr/>
          <p:nvPr/>
        </p:nvSpPr>
        <p:spPr>
          <a:xfrm>
            <a:off x="548640" y="6464808"/>
            <a:ext cx="45720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C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A8C"/>
                </a:solidFill>
                <a:latin typeface="Arial"/>
                <a:ea typeface="Arial"/>
                <a:cs typeface="Arial"/>
                <a:sym typeface="Arial"/>
              </a:rPr>
              <a:t>Good luck, Vaishnavi!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2026-03-07T06:08:27Z</dcterms:created>
  <dc:creator>OpenAI</dc:creator>
</cp:coreProperties>
</file>